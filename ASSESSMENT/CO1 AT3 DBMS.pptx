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76" r:id="rId6"/>
    <p:sldId id="269" r:id="rId7"/>
    <p:sldId id="264" r:id="rId8"/>
    <p:sldId id="268" r:id="rId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72"/>
  </p:normalViewPr>
  <p:slideViewPr>
    <p:cSldViewPr>
      <p:cViewPr varScale="1">
        <p:scale>
          <a:sx n="84" d="100"/>
          <a:sy n="84" d="100"/>
        </p:scale>
        <p:origin x="547"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8/1/2026</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8/1/2026</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8/1/2026</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518029" y="461899"/>
            <a:ext cx="7155941" cy="696594"/>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a:xfrm>
            <a:off x="688340" y="1509941"/>
            <a:ext cx="6337300" cy="1782445"/>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8/1/2026</a:t>
            </a:fld>
            <a:endParaRPr lang="en-US" dirty="0"/>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07246" y="1651919"/>
            <a:ext cx="8813053" cy="1121461"/>
          </a:xfrm>
          <a:prstGeom prst="rect">
            <a:avLst/>
          </a:prstGeom>
        </p:spPr>
        <p:txBody>
          <a:bodyPr vert="horz" wrap="square" lIns="0" tIns="13335" rIns="0" bIns="0" rtlCol="0">
            <a:spAutoFit/>
          </a:bodyPr>
          <a:lstStyle/>
          <a:p>
            <a:pPr algn="ctr"/>
            <a:r>
              <a:rPr lang="en-IN" sz="3600" b="1" dirty="0">
                <a:solidFill>
                  <a:srgbClr val="C00000"/>
                </a:solidFill>
                <a:latin typeface="Times New Roman" panose="02020603050405020304" pitchFamily="18" charset="0"/>
                <a:cs typeface="Times New Roman" panose="02020603050405020304" pitchFamily="18" charset="0"/>
              </a:rPr>
              <a:t>Database Management System -</a:t>
            </a:r>
            <a:br>
              <a:rPr lang="en-IN" sz="3600" b="1" dirty="0">
                <a:solidFill>
                  <a:srgbClr val="C00000"/>
                </a:solidFill>
                <a:latin typeface="Times New Roman" panose="02020603050405020304" pitchFamily="18" charset="0"/>
                <a:cs typeface="Times New Roman" panose="02020603050405020304" pitchFamily="18" charset="0"/>
              </a:rPr>
            </a:br>
            <a:r>
              <a:rPr lang="en-IN" sz="3600" b="1" dirty="0">
                <a:solidFill>
                  <a:srgbClr val="C00000"/>
                </a:solidFill>
                <a:latin typeface="Times New Roman" panose="02020603050405020304" pitchFamily="18" charset="0"/>
                <a:cs typeface="Times New Roman" panose="02020603050405020304" pitchFamily="18" charset="0"/>
              </a:rPr>
              <a:t>An Efficient Way to Store and Manage Data</a:t>
            </a:r>
          </a:p>
        </p:txBody>
      </p:sp>
      <p:sp>
        <p:nvSpPr>
          <p:cNvPr id="3" name="object 3"/>
          <p:cNvSpPr txBox="1"/>
          <p:nvPr/>
        </p:nvSpPr>
        <p:spPr>
          <a:xfrm>
            <a:off x="1135507" y="3276600"/>
            <a:ext cx="9372600" cy="2426305"/>
          </a:xfrm>
          <a:prstGeom prst="rect">
            <a:avLst/>
          </a:prstGeom>
        </p:spPr>
        <p:txBody>
          <a:bodyPr vert="horz" wrap="square" lIns="0" tIns="12700" rIns="0" bIns="0" rtlCol="0">
            <a:spAutoFit/>
          </a:bodyPr>
          <a:lstStyle/>
          <a:p>
            <a:pPr algn="ctr">
              <a:lnSpc>
                <a:spcPct val="100000"/>
              </a:lnSpc>
              <a:spcBef>
                <a:spcPts val="100"/>
              </a:spcBef>
            </a:pPr>
            <a:r>
              <a:rPr sz="2200" spc="-10" dirty="0">
                <a:solidFill>
                  <a:schemeClr val="tx1"/>
                </a:solidFill>
                <a:latin typeface="Times New Roman" panose="02020603050405020304" pitchFamily="18" charset="0"/>
                <a:cs typeface="Times New Roman" panose="02020603050405020304" pitchFamily="18" charset="0"/>
              </a:rPr>
              <a:t>Presented</a:t>
            </a:r>
            <a:r>
              <a:rPr sz="2200" spc="-90" dirty="0">
                <a:solidFill>
                  <a:schemeClr val="tx1"/>
                </a:solidFill>
                <a:latin typeface="Times New Roman" panose="02020603050405020304" pitchFamily="18" charset="0"/>
                <a:cs typeface="Times New Roman" panose="02020603050405020304" pitchFamily="18" charset="0"/>
              </a:rPr>
              <a:t> </a:t>
            </a:r>
            <a:r>
              <a:rPr sz="2200" spc="-25" dirty="0">
                <a:solidFill>
                  <a:schemeClr val="tx1"/>
                </a:solidFill>
                <a:latin typeface="Times New Roman" panose="02020603050405020304" pitchFamily="18" charset="0"/>
                <a:cs typeface="Times New Roman" panose="02020603050405020304" pitchFamily="18" charset="0"/>
              </a:rPr>
              <a:t>by:</a:t>
            </a:r>
            <a:endParaRPr lang="en-US" sz="2200" spc="-25" dirty="0">
              <a:solidFill>
                <a:schemeClr val="tx1"/>
              </a:solidFill>
              <a:latin typeface="Times New Roman" panose="02020603050405020304" pitchFamily="18" charset="0"/>
              <a:cs typeface="Times New Roman" panose="02020603050405020304" pitchFamily="18" charset="0"/>
            </a:endParaRPr>
          </a:p>
          <a:p>
            <a:pPr algn="ctr">
              <a:lnSpc>
                <a:spcPct val="100000"/>
              </a:lnSpc>
              <a:spcBef>
                <a:spcPts val="100"/>
              </a:spcBef>
            </a:pPr>
            <a:endParaRPr sz="2200" dirty="0">
              <a:solidFill>
                <a:schemeClr val="tx1"/>
              </a:solidFill>
              <a:latin typeface="Times New Roman" panose="02020603050405020304" pitchFamily="18" charset="0"/>
              <a:cs typeface="Times New Roman" panose="02020603050405020304" pitchFamily="18" charset="0"/>
            </a:endParaRPr>
          </a:p>
          <a:p>
            <a:pPr marL="12700" marR="5080" algn="ctr">
              <a:lnSpc>
                <a:spcPct val="100000"/>
              </a:lnSpc>
            </a:pPr>
            <a:r>
              <a:rPr lang="en-US" sz="2200" spc="-10" dirty="0">
                <a:solidFill>
                  <a:schemeClr val="tx1"/>
                </a:solidFill>
                <a:latin typeface="Times New Roman" panose="02020603050405020304" pitchFamily="18" charset="0"/>
                <a:cs typeface="Times New Roman" panose="02020603050405020304" pitchFamily="18" charset="0"/>
              </a:rPr>
              <a:t>N. UDAY KIRAN (192473001)</a:t>
            </a:r>
          </a:p>
          <a:p>
            <a:pPr marL="12700" marR="5080" algn="ctr"/>
            <a:r>
              <a:rPr lang="pt-BR" sz="2200" dirty="0">
                <a:latin typeface="Times New Roman" panose="02020603050405020304" pitchFamily="18" charset="0"/>
                <a:cs typeface="Times New Roman" panose="02020603050405020304" pitchFamily="18" charset="0"/>
              </a:rPr>
              <a:t>CSA0506</a:t>
            </a:r>
            <a:r>
              <a:rPr lang="en-US" sz="2200" dirty="0">
                <a:solidFill>
                  <a:schemeClr val="tx1"/>
                </a:solidFill>
                <a:latin typeface="Times New Roman" panose="02020603050405020304" pitchFamily="18" charset="0"/>
                <a:cs typeface="Times New Roman" panose="02020603050405020304" pitchFamily="18" charset="0"/>
              </a:rPr>
              <a:t> </a:t>
            </a:r>
            <a:r>
              <a:rPr lang="pt-BR" sz="2200" dirty="0">
                <a:latin typeface="Times New Roman" panose="02020603050405020304" pitchFamily="18" charset="0"/>
                <a:cs typeface="Times New Roman" panose="02020603050405020304" pitchFamily="18" charset="0"/>
              </a:rPr>
              <a:t>: DATABASE MANAGEMENT SYSTEM</a:t>
            </a:r>
          </a:p>
          <a:p>
            <a:pPr marL="12700" marR="5080" algn="ctr">
              <a:lnSpc>
                <a:spcPct val="100000"/>
              </a:lnSpc>
            </a:pPr>
            <a:r>
              <a:rPr sz="2200" dirty="0">
                <a:solidFill>
                  <a:schemeClr val="tx1"/>
                </a:solidFill>
                <a:latin typeface="Times New Roman" panose="02020603050405020304" pitchFamily="18" charset="0"/>
                <a:cs typeface="Times New Roman" panose="02020603050405020304" pitchFamily="18" charset="0"/>
              </a:rPr>
              <a:t>Date:</a:t>
            </a:r>
            <a:r>
              <a:rPr sz="2200" spc="-100" dirty="0">
                <a:solidFill>
                  <a:schemeClr val="tx1"/>
                </a:solidFill>
                <a:latin typeface="Times New Roman" panose="02020603050405020304" pitchFamily="18" charset="0"/>
                <a:cs typeface="Times New Roman" panose="02020603050405020304" pitchFamily="18" charset="0"/>
              </a:rPr>
              <a:t> </a:t>
            </a:r>
            <a:r>
              <a:rPr lang="en-US" sz="2200" spc="-10" dirty="0">
                <a:solidFill>
                  <a:schemeClr val="tx1"/>
                </a:solidFill>
                <a:latin typeface="Times New Roman" panose="02020603050405020304" pitchFamily="18" charset="0"/>
                <a:cs typeface="Times New Roman" panose="02020603050405020304" pitchFamily="18" charset="0"/>
              </a:rPr>
              <a:t>21</a:t>
            </a:r>
            <a:r>
              <a:rPr sz="2200" spc="-10" dirty="0">
                <a:solidFill>
                  <a:schemeClr val="tx1"/>
                </a:solidFill>
                <a:latin typeface="Times New Roman" panose="02020603050405020304" pitchFamily="18" charset="0"/>
                <a:cs typeface="Times New Roman" panose="02020603050405020304" pitchFamily="18" charset="0"/>
              </a:rPr>
              <a:t>/</a:t>
            </a:r>
            <a:r>
              <a:rPr lang="en-US" sz="2200" spc="-10" dirty="0">
                <a:solidFill>
                  <a:schemeClr val="tx1"/>
                </a:solidFill>
                <a:latin typeface="Times New Roman" panose="02020603050405020304" pitchFamily="18" charset="0"/>
                <a:cs typeface="Times New Roman" panose="02020603050405020304" pitchFamily="18" charset="0"/>
              </a:rPr>
              <a:t>07</a:t>
            </a:r>
            <a:r>
              <a:rPr sz="2200" spc="-10" dirty="0">
                <a:solidFill>
                  <a:schemeClr val="tx1"/>
                </a:solidFill>
                <a:latin typeface="Times New Roman" panose="02020603050405020304" pitchFamily="18" charset="0"/>
                <a:cs typeface="Times New Roman" panose="02020603050405020304" pitchFamily="18" charset="0"/>
              </a:rPr>
              <a:t>/</a:t>
            </a:r>
            <a:r>
              <a:rPr lang="en-US" sz="2200" spc="-10" dirty="0">
                <a:solidFill>
                  <a:schemeClr val="tx1"/>
                </a:solidFill>
                <a:latin typeface="Times New Roman" panose="02020603050405020304" pitchFamily="18" charset="0"/>
                <a:cs typeface="Times New Roman" panose="02020603050405020304" pitchFamily="18" charset="0"/>
              </a:rPr>
              <a:t>2026</a:t>
            </a:r>
          </a:p>
          <a:p>
            <a:pPr marL="12700" marR="5080" algn="ctr">
              <a:lnSpc>
                <a:spcPct val="100000"/>
              </a:lnSpc>
            </a:pPr>
            <a:endParaRPr lang="en-US" sz="2200" dirty="0">
              <a:solidFill>
                <a:schemeClr val="tx1"/>
              </a:solidFill>
              <a:latin typeface="Times New Roman" panose="02020603050405020304" pitchFamily="18" charset="0"/>
              <a:cs typeface="Times New Roman" panose="02020603050405020304" pitchFamily="18" charset="0"/>
            </a:endParaRPr>
          </a:p>
          <a:p>
            <a:pPr marL="12700" marR="5080" algn="ctr">
              <a:lnSpc>
                <a:spcPct val="100000"/>
              </a:lnSpc>
            </a:pPr>
            <a:r>
              <a:rPr lang="en-IN" sz="2400" dirty="0">
                <a:solidFill>
                  <a:srgbClr val="FF0000"/>
                </a:solidFill>
                <a:latin typeface="Times New Roman" panose="02020603050405020304" pitchFamily="18" charset="0"/>
                <a:cs typeface="Times New Roman" panose="02020603050405020304" pitchFamily="18" charset="0"/>
              </a:rPr>
              <a:t>Technical Presentation</a:t>
            </a:r>
            <a:endParaRPr sz="2200" dirty="0">
              <a:solidFill>
                <a:srgbClr val="FF0000"/>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p:blipFill>
        <p:spPr>
          <a:xfrm>
            <a:off x="304800" y="465365"/>
            <a:ext cx="11277600" cy="9062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0" y="1394778"/>
            <a:ext cx="4320158" cy="629018"/>
          </a:xfrm>
          <a:prstGeom prst="rect">
            <a:avLst/>
          </a:prstGeom>
        </p:spPr>
        <p:txBody>
          <a:bodyPr vert="horz" wrap="square" lIns="0" tIns="13335" rIns="0" bIns="0" rtlCol="0">
            <a:spAutoFit/>
          </a:bodyPr>
          <a:lstStyle/>
          <a:p>
            <a:pPr marL="12700">
              <a:lnSpc>
                <a:spcPct val="100000"/>
              </a:lnSpc>
              <a:spcBef>
                <a:spcPts val="105"/>
              </a:spcBef>
            </a:pPr>
            <a:r>
              <a:rPr sz="4000" b="1" spc="-10" dirty="0">
                <a:latin typeface="Times New Roman" panose="02020603050405020304" pitchFamily="18" charset="0"/>
                <a:cs typeface="Times New Roman" panose="02020603050405020304" pitchFamily="18" charset="0"/>
              </a:rPr>
              <a:t>Introduction</a:t>
            </a:r>
          </a:p>
        </p:txBody>
      </p:sp>
      <p:sp>
        <p:nvSpPr>
          <p:cNvPr id="3" name="object 3"/>
          <p:cNvSpPr txBox="1"/>
          <p:nvPr/>
        </p:nvSpPr>
        <p:spPr>
          <a:xfrm>
            <a:off x="685800" y="2438400"/>
            <a:ext cx="10820400" cy="2881557"/>
          </a:xfrm>
          <a:prstGeom prst="rect">
            <a:avLst/>
          </a:prstGeom>
        </p:spPr>
        <p:txBody>
          <a:bodyPr vert="horz" wrap="square" lIns="0" tIns="110489" rIns="0" bIns="0" rtlCol="0">
            <a:spAutoFit/>
          </a:bodyPr>
          <a:lstStyle/>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DBMS stands for Database Management System. It is software used to create, store, organize, retrieve, and manage data efficiently. It acts as a bridge between the user and the database, making data access simple, secure, and reliable.</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Some popular examples of DBMS are MySQL, Oracle Database, and Microsoft SQL Server.</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main objectives of a DBMS are to store large amounts of data securely, reduce duplicate data, retrieve information quickly, maintain data consistency, support multiple users at the same time, and provide data security along with backup and recovery.</a:t>
            </a:r>
          </a:p>
        </p:txBody>
      </p:sp>
      <p:pic>
        <p:nvPicPr>
          <p:cNvPr id="8" name="Picture 7"/>
          <p:cNvPicPr>
            <a:picLocks noChangeAspect="1"/>
          </p:cNvPicPr>
          <p:nvPr/>
        </p:nvPicPr>
        <p:blipFill>
          <a:blip r:embed="rId2"/>
          <a:stretch/>
        </p:blipFill>
        <p:spPr>
          <a:xfrm>
            <a:off x="381000" y="150140"/>
            <a:ext cx="11277600" cy="9062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350879"/>
            <a:ext cx="10210800" cy="629018"/>
          </a:xfrm>
          <a:prstGeom prst="rect">
            <a:avLst/>
          </a:prstGeom>
        </p:spPr>
        <p:txBody>
          <a:bodyPr vert="horz" wrap="square" lIns="0" tIns="13335" rIns="0" bIns="0" rtlCol="0">
            <a:spAutoFit/>
          </a:bodyPr>
          <a:lstStyle/>
          <a:p>
            <a:pPr marL="2390140" algn="ctr">
              <a:spcBef>
                <a:spcPts val="105"/>
              </a:spcBef>
            </a:pPr>
            <a:r>
              <a:rPr lang="en-IN" sz="4000" b="1" spc="-10" dirty="0">
                <a:latin typeface="Times New Roman" panose="02020603050405020304" pitchFamily="18" charset="0"/>
                <a:cs typeface="Times New Roman" panose="02020603050405020304" pitchFamily="18" charset="0"/>
              </a:rPr>
              <a:t>Working &amp; Functions</a:t>
            </a:r>
            <a:endParaRPr sz="4000" spc="-1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DA6F852-D416-E644-24E7-4702925DE9CF}"/>
              </a:ext>
            </a:extLst>
          </p:cNvPr>
          <p:cNvSpPr txBox="1"/>
          <p:nvPr/>
        </p:nvSpPr>
        <p:spPr>
          <a:xfrm>
            <a:off x="210312" y="1933575"/>
            <a:ext cx="3581400" cy="492442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      How DBMS Works:</a:t>
            </a:r>
          </a:p>
          <a:p>
            <a:endParaRPr lang="en-IN" sz="2000" b="1"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   User</a:t>
            </a:r>
          </a:p>
          <a:p>
            <a:pPr algn="ctr"/>
            <a:r>
              <a:rPr lang="en-IN" dirty="0">
                <a:latin typeface="Times New Roman" panose="02020603050405020304" pitchFamily="18" charset="0"/>
                <a:cs typeface="Times New Roman" panose="02020603050405020304" pitchFamily="18" charset="0"/>
              </a:rPr>
              <a:t>    │</a:t>
            </a:r>
          </a:p>
          <a:p>
            <a:pPr algn="ctr"/>
            <a:r>
              <a:rPr lang="en-IN" dirty="0">
                <a:latin typeface="Times New Roman" panose="02020603050405020304" pitchFamily="18" charset="0"/>
                <a:cs typeface="Times New Roman" panose="02020603050405020304" pitchFamily="18" charset="0"/>
              </a:rPr>
              <a:t>    ▼</a:t>
            </a:r>
          </a:p>
          <a:p>
            <a:pPr algn="ctr"/>
            <a:r>
              <a:rPr lang="en-IN" dirty="0">
                <a:latin typeface="Times New Roman" panose="02020603050405020304" pitchFamily="18" charset="0"/>
                <a:cs typeface="Times New Roman" panose="02020603050405020304" pitchFamily="18" charset="0"/>
              </a:rPr>
              <a:t>       Application</a:t>
            </a:r>
          </a:p>
          <a:p>
            <a:pPr algn="ctr"/>
            <a:r>
              <a:rPr lang="en-IN" dirty="0">
                <a:latin typeface="Times New Roman" panose="02020603050405020304" pitchFamily="18" charset="0"/>
                <a:cs typeface="Times New Roman" panose="02020603050405020304" pitchFamily="18" charset="0"/>
              </a:rPr>
              <a:t>     │</a:t>
            </a:r>
          </a:p>
          <a:p>
            <a:pPr algn="ctr"/>
            <a:r>
              <a:rPr lang="en-IN" dirty="0">
                <a:latin typeface="Times New Roman" panose="02020603050405020304" pitchFamily="18" charset="0"/>
                <a:cs typeface="Times New Roman" panose="02020603050405020304" pitchFamily="18" charset="0"/>
              </a:rPr>
              <a:t>     ▼</a:t>
            </a:r>
          </a:p>
          <a:p>
            <a:pPr algn="ctr"/>
            <a:r>
              <a:rPr lang="en-IN" dirty="0">
                <a:latin typeface="Times New Roman" panose="02020603050405020304" pitchFamily="18" charset="0"/>
                <a:cs typeface="Times New Roman" panose="02020603050405020304" pitchFamily="18" charset="0"/>
              </a:rPr>
              <a:t> Database Management</a:t>
            </a:r>
          </a:p>
          <a:p>
            <a:pPr algn="ctr"/>
            <a:r>
              <a:rPr lang="en-IN" dirty="0">
                <a:latin typeface="Times New Roman" panose="02020603050405020304" pitchFamily="18" charset="0"/>
                <a:cs typeface="Times New Roman" panose="02020603050405020304" pitchFamily="18" charset="0"/>
              </a:rPr>
              <a:t>      System (DBMS)</a:t>
            </a:r>
          </a:p>
          <a:p>
            <a:pPr algn="ctr"/>
            <a:r>
              <a:rPr lang="en-IN" dirty="0">
                <a:latin typeface="Times New Roman" panose="02020603050405020304" pitchFamily="18" charset="0"/>
                <a:cs typeface="Times New Roman" panose="02020603050405020304" pitchFamily="18" charset="0"/>
              </a:rPr>
              <a:t>     │</a:t>
            </a:r>
          </a:p>
          <a:p>
            <a:pPr algn="ctr"/>
            <a:r>
              <a:rPr lang="en-IN" dirty="0">
                <a:latin typeface="Times New Roman" panose="02020603050405020304" pitchFamily="18" charset="0"/>
                <a:cs typeface="Times New Roman" panose="02020603050405020304" pitchFamily="18" charset="0"/>
              </a:rPr>
              <a:t>     ▼</a:t>
            </a:r>
          </a:p>
          <a:p>
            <a:pPr algn="ctr"/>
            <a:r>
              <a:rPr lang="en-IN" dirty="0">
                <a:latin typeface="Times New Roman" panose="02020603050405020304" pitchFamily="18" charset="0"/>
                <a:cs typeface="Times New Roman" panose="02020603050405020304" pitchFamily="18" charset="0"/>
              </a:rPr>
              <a:t>         Database</a:t>
            </a:r>
          </a:p>
          <a:p>
            <a:pPr algn="ctr"/>
            <a:r>
              <a:rPr lang="en-IN" dirty="0">
                <a:latin typeface="Times New Roman" panose="02020603050405020304" pitchFamily="18" charset="0"/>
                <a:cs typeface="Times New Roman" panose="02020603050405020304" pitchFamily="18" charset="0"/>
              </a:rPr>
              <a:t>     │</a:t>
            </a:r>
          </a:p>
          <a:p>
            <a:pPr algn="ctr"/>
            <a:r>
              <a:rPr lang="en-IN" dirty="0">
                <a:latin typeface="Times New Roman" panose="02020603050405020304" pitchFamily="18" charset="0"/>
                <a:cs typeface="Times New Roman" panose="02020603050405020304" pitchFamily="18" charset="0"/>
              </a:rPr>
              <a:t>     ▼</a:t>
            </a:r>
          </a:p>
          <a:p>
            <a:pPr algn="ctr"/>
            <a:r>
              <a:rPr lang="en-IN" dirty="0">
                <a:latin typeface="Times New Roman" panose="02020603050405020304" pitchFamily="18" charset="0"/>
                <a:cs typeface="Times New Roman" panose="02020603050405020304" pitchFamily="18" charset="0"/>
              </a:rPr>
              <a:t>  Requested Information</a:t>
            </a:r>
          </a:p>
          <a:p>
            <a:pPr algn="ctr"/>
            <a:r>
              <a:rPr lang="en-IN" dirty="0">
                <a:latin typeface="Times New Roman" panose="02020603050405020304" pitchFamily="18" charset="0"/>
                <a:cs typeface="Times New Roman" panose="02020603050405020304" pitchFamily="18" charset="0"/>
              </a:rPr>
              <a:t>     Returned to User</a:t>
            </a:r>
          </a:p>
        </p:txBody>
      </p:sp>
      <p:pic>
        <p:nvPicPr>
          <p:cNvPr id="8" name="Picture 7"/>
          <p:cNvPicPr>
            <a:picLocks noChangeAspect="1"/>
          </p:cNvPicPr>
          <p:nvPr/>
        </p:nvPicPr>
        <p:blipFill>
          <a:blip r:embed="rId2"/>
          <a:stretch/>
        </p:blipFill>
        <p:spPr>
          <a:xfrm>
            <a:off x="173736" y="124683"/>
            <a:ext cx="11658600" cy="906235"/>
          </a:xfrm>
          <a:prstGeom prst="rect">
            <a:avLst/>
          </a:prstGeom>
        </p:spPr>
      </p:pic>
      <p:sp>
        <p:nvSpPr>
          <p:cNvPr id="4" name="TextBox 3">
            <a:extLst>
              <a:ext uri="{FF2B5EF4-FFF2-40B4-BE49-F238E27FC236}">
                <a16:creationId xmlns:a16="http://schemas.microsoft.com/office/drawing/2014/main" id="{BBB539EF-3835-D9D7-6DAE-CE0A9FE4F28C}"/>
              </a:ext>
            </a:extLst>
          </p:cNvPr>
          <p:cNvSpPr txBox="1"/>
          <p:nvPr/>
        </p:nvSpPr>
        <p:spPr>
          <a:xfrm>
            <a:off x="4218432" y="2299859"/>
            <a:ext cx="7848600" cy="2923877"/>
          </a:xfrm>
          <a:prstGeom prst="rect">
            <a:avLst/>
          </a:prstGeom>
          <a:noFill/>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Main Functions of DBMS:</a:t>
            </a:r>
          </a:p>
          <a:p>
            <a:pPr algn="just"/>
            <a:endParaRPr lang="en-IN" sz="2000" b="1"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Data Storage</a:t>
            </a:r>
            <a:r>
              <a:rPr lang="en-IN" sz="2000" dirty="0">
                <a:latin typeface="Times New Roman" panose="02020603050405020304" pitchFamily="18" charset="0"/>
                <a:cs typeface="Times New Roman" panose="02020603050405020304" pitchFamily="18" charset="0"/>
              </a:rPr>
              <a:t> – Stores data in an organized and secure manner. </a:t>
            </a:r>
          </a:p>
          <a:p>
            <a:pPr algn="just"/>
            <a:r>
              <a:rPr lang="en-IN" sz="2000" b="1" dirty="0">
                <a:latin typeface="Times New Roman" panose="02020603050405020304" pitchFamily="18" charset="0"/>
                <a:cs typeface="Times New Roman" panose="02020603050405020304" pitchFamily="18" charset="0"/>
              </a:rPr>
              <a:t>Data Retrieval</a:t>
            </a:r>
            <a:r>
              <a:rPr lang="en-IN" sz="2000" dirty="0">
                <a:latin typeface="Times New Roman" panose="02020603050405020304" pitchFamily="18" charset="0"/>
                <a:cs typeface="Times New Roman" panose="02020603050405020304" pitchFamily="18" charset="0"/>
              </a:rPr>
              <a:t> – Retrieves required information quickly using queries. </a:t>
            </a:r>
          </a:p>
          <a:p>
            <a:pPr algn="just"/>
            <a:r>
              <a:rPr lang="en-IN" sz="2000" b="1" dirty="0">
                <a:latin typeface="Times New Roman" panose="02020603050405020304" pitchFamily="18" charset="0"/>
                <a:cs typeface="Times New Roman" panose="02020603050405020304" pitchFamily="18" charset="0"/>
              </a:rPr>
              <a:t>Data Update</a:t>
            </a:r>
            <a:r>
              <a:rPr lang="en-IN" sz="2000" dirty="0">
                <a:latin typeface="Times New Roman" panose="02020603050405020304" pitchFamily="18" charset="0"/>
                <a:cs typeface="Times New Roman" panose="02020603050405020304" pitchFamily="18" charset="0"/>
              </a:rPr>
              <a:t> – Allows adding, modifying, or deleting records. </a:t>
            </a:r>
          </a:p>
          <a:p>
            <a:pPr algn="just"/>
            <a:r>
              <a:rPr lang="en-IN" sz="2000" b="1" dirty="0">
                <a:latin typeface="Times New Roman" panose="02020603050405020304" pitchFamily="18" charset="0"/>
                <a:cs typeface="Times New Roman" panose="02020603050405020304" pitchFamily="18" charset="0"/>
              </a:rPr>
              <a:t>Data Security</a:t>
            </a:r>
            <a:r>
              <a:rPr lang="en-IN" sz="2000" dirty="0">
                <a:latin typeface="Times New Roman" panose="02020603050405020304" pitchFamily="18" charset="0"/>
                <a:cs typeface="Times New Roman" panose="02020603050405020304" pitchFamily="18" charset="0"/>
              </a:rPr>
              <a:t> – Protects data through authentication and access control. </a:t>
            </a:r>
          </a:p>
          <a:p>
            <a:pPr algn="just"/>
            <a:r>
              <a:rPr lang="en-IN" sz="2000" b="1" dirty="0">
                <a:latin typeface="Times New Roman" panose="02020603050405020304" pitchFamily="18" charset="0"/>
                <a:cs typeface="Times New Roman" panose="02020603050405020304" pitchFamily="18" charset="0"/>
              </a:rPr>
              <a:t>Backup &amp; Recovery</a:t>
            </a:r>
            <a:r>
              <a:rPr lang="en-IN" sz="2000" dirty="0">
                <a:latin typeface="Times New Roman" panose="02020603050405020304" pitchFamily="18" charset="0"/>
                <a:cs typeface="Times New Roman" panose="02020603050405020304" pitchFamily="18" charset="0"/>
              </a:rPr>
              <a:t> – Restores data in case of system failure or data loss. </a:t>
            </a:r>
          </a:p>
          <a:p>
            <a:pPr algn="just"/>
            <a:r>
              <a:rPr lang="en-IN" sz="2000" b="1" dirty="0">
                <a:latin typeface="Times New Roman" panose="02020603050405020304" pitchFamily="18" charset="0"/>
                <a:cs typeface="Times New Roman" panose="02020603050405020304" pitchFamily="18" charset="0"/>
              </a:rPr>
              <a:t>Transaction Management</a:t>
            </a:r>
            <a:r>
              <a:rPr lang="en-IN" sz="2000" dirty="0">
                <a:latin typeface="Times New Roman" panose="02020603050405020304" pitchFamily="18" charset="0"/>
                <a:cs typeface="Times New Roman" panose="02020603050405020304" pitchFamily="18" charset="0"/>
              </a:rPr>
              <a:t> – Ensures transactions are completed accurately while maintaining data consistency.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29000" y="1219200"/>
            <a:ext cx="7155941" cy="629018"/>
          </a:xfrm>
          <a:prstGeom prst="rect">
            <a:avLst/>
          </a:prstGeom>
        </p:spPr>
        <p:txBody>
          <a:bodyPr vert="horz" wrap="square" lIns="0" tIns="13335" rIns="0" bIns="0" rtlCol="0">
            <a:spAutoFit/>
          </a:bodyPr>
          <a:lstStyle/>
          <a:p>
            <a:pPr marL="12700">
              <a:spcBef>
                <a:spcPts val="105"/>
              </a:spcBef>
            </a:pPr>
            <a:r>
              <a:rPr lang="en-IN" sz="4000" b="1" dirty="0">
                <a:latin typeface="Times New Roman" panose="02020603050405020304" pitchFamily="18" charset="0"/>
                <a:cs typeface="Times New Roman" panose="02020603050405020304" pitchFamily="18" charset="0"/>
              </a:rPr>
              <a:t>Advantages of DBMS</a:t>
            </a:r>
            <a:endParaRPr sz="4000" b="1" spc="-1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ADB8366-9679-8893-69F4-C736F9C3BF6E}"/>
              </a:ext>
            </a:extLst>
          </p:cNvPr>
          <p:cNvSpPr txBox="1"/>
          <p:nvPr/>
        </p:nvSpPr>
        <p:spPr>
          <a:xfrm>
            <a:off x="1447800" y="2209800"/>
            <a:ext cx="8724900" cy="3785652"/>
          </a:xfrm>
          <a:prstGeom prst="rect">
            <a:avLst/>
          </a:prstGeom>
          <a:noFill/>
        </p:spPr>
        <p:txBody>
          <a:bodyPr wrap="square" rtlCol="0">
            <a:spAutoFit/>
          </a:bodyPr>
          <a:lstStyle/>
          <a:p>
            <a:pPr algn="just"/>
            <a:r>
              <a:rPr lang="en-IN" sz="2000" b="1" dirty="0">
                <a:latin typeface="Times New Roman" panose="02020603050405020304" pitchFamily="18" charset="0"/>
                <a:cs typeface="Times New Roman" panose="02020603050405020304" pitchFamily="18" charset="0"/>
              </a:rPr>
              <a:t>Data Security</a:t>
            </a:r>
          </a:p>
          <a:p>
            <a:pPr algn="just"/>
            <a:r>
              <a:rPr lang="en-IN" sz="2000" dirty="0">
                <a:latin typeface="Times New Roman" panose="02020603050405020304" pitchFamily="18" charset="0"/>
                <a:cs typeface="Times New Roman" panose="02020603050405020304" pitchFamily="18" charset="0"/>
              </a:rPr>
              <a:t>Protects sensitive data using authentication, authorization, and access control.</a:t>
            </a:r>
          </a:p>
          <a:p>
            <a:pPr algn="just"/>
            <a:r>
              <a:rPr lang="en-IN" sz="2000" b="1" dirty="0">
                <a:latin typeface="Times New Roman" panose="02020603050405020304" pitchFamily="18" charset="0"/>
                <a:cs typeface="Times New Roman" panose="02020603050405020304" pitchFamily="18" charset="0"/>
              </a:rPr>
              <a:t>Reduced Data Redundancy</a:t>
            </a:r>
          </a:p>
          <a:p>
            <a:pPr algn="just"/>
            <a:r>
              <a:rPr lang="en-IN" sz="2000" dirty="0">
                <a:latin typeface="Times New Roman" panose="02020603050405020304" pitchFamily="18" charset="0"/>
                <a:cs typeface="Times New Roman" panose="02020603050405020304" pitchFamily="18" charset="0"/>
              </a:rPr>
              <a:t>Eliminates duplicate data, saving storage space and improving efficiency.</a:t>
            </a:r>
          </a:p>
          <a:p>
            <a:pPr algn="just"/>
            <a:r>
              <a:rPr lang="en-IN" sz="2000" b="1" dirty="0">
                <a:latin typeface="Times New Roman" panose="02020603050405020304" pitchFamily="18" charset="0"/>
                <a:cs typeface="Times New Roman" panose="02020603050405020304" pitchFamily="18" charset="0"/>
              </a:rPr>
              <a:t>Data Integrity</a:t>
            </a:r>
          </a:p>
          <a:p>
            <a:pPr algn="just"/>
            <a:r>
              <a:rPr lang="en-IN" sz="2000" dirty="0">
                <a:latin typeface="Times New Roman" panose="02020603050405020304" pitchFamily="18" charset="0"/>
                <a:cs typeface="Times New Roman" panose="02020603050405020304" pitchFamily="18" charset="0"/>
              </a:rPr>
              <a:t>Ensures data remains accurate, consistent, and reliable.</a:t>
            </a:r>
          </a:p>
          <a:p>
            <a:pPr algn="just"/>
            <a:r>
              <a:rPr lang="en-IN" sz="2000" b="1" dirty="0">
                <a:latin typeface="Times New Roman" panose="02020603050405020304" pitchFamily="18" charset="0"/>
                <a:cs typeface="Times New Roman" panose="02020603050405020304" pitchFamily="18" charset="0"/>
              </a:rPr>
              <a:t>Multi-User Access</a:t>
            </a:r>
          </a:p>
          <a:p>
            <a:pPr algn="just"/>
            <a:r>
              <a:rPr lang="en-IN" sz="2000" dirty="0">
                <a:latin typeface="Times New Roman" panose="02020603050405020304" pitchFamily="18" charset="0"/>
                <a:cs typeface="Times New Roman" panose="02020603050405020304" pitchFamily="18" charset="0"/>
              </a:rPr>
              <a:t>Allows multiple users to access and work with the database simultaneously.</a:t>
            </a:r>
          </a:p>
          <a:p>
            <a:pPr algn="just"/>
            <a:r>
              <a:rPr lang="en-IN" sz="2000" b="1" dirty="0">
                <a:latin typeface="Times New Roman" panose="02020603050405020304" pitchFamily="18" charset="0"/>
                <a:cs typeface="Times New Roman" panose="02020603050405020304" pitchFamily="18" charset="0"/>
              </a:rPr>
              <a:t>Backup &amp; Recovery</a:t>
            </a:r>
          </a:p>
          <a:p>
            <a:pPr algn="just"/>
            <a:r>
              <a:rPr lang="en-IN" sz="2000" dirty="0">
                <a:latin typeface="Times New Roman" panose="02020603050405020304" pitchFamily="18" charset="0"/>
                <a:cs typeface="Times New Roman" panose="02020603050405020304" pitchFamily="18" charset="0"/>
              </a:rPr>
              <a:t>Provides backup facilities and restores data in case of failures or data loss.</a:t>
            </a:r>
          </a:p>
          <a:p>
            <a:pPr algn="just"/>
            <a:r>
              <a:rPr lang="en-IN" sz="2000" b="1" dirty="0">
                <a:latin typeface="Times New Roman" panose="02020603050405020304" pitchFamily="18" charset="0"/>
                <a:cs typeface="Times New Roman" panose="02020603050405020304" pitchFamily="18" charset="0"/>
              </a:rPr>
              <a:t>Efficient Data Sharing</a:t>
            </a:r>
          </a:p>
          <a:p>
            <a:pPr algn="just"/>
            <a:r>
              <a:rPr lang="en-IN" sz="2000" dirty="0">
                <a:latin typeface="Times New Roman" panose="02020603050405020304" pitchFamily="18" charset="0"/>
                <a:cs typeface="Times New Roman" panose="02020603050405020304" pitchFamily="18" charset="0"/>
              </a:rPr>
              <a:t>Enables authorized users to share and access data quickly and securely.</a:t>
            </a:r>
          </a:p>
        </p:txBody>
      </p:sp>
      <p:pic>
        <p:nvPicPr>
          <p:cNvPr id="9" name="Picture 8"/>
          <p:cNvPicPr>
            <a:picLocks noChangeAspect="1"/>
          </p:cNvPicPr>
          <p:nvPr/>
        </p:nvPicPr>
        <p:blipFill>
          <a:blip r:embed="rId2"/>
          <a:stretch/>
        </p:blipFill>
        <p:spPr>
          <a:xfrm>
            <a:off x="342900" y="119138"/>
            <a:ext cx="11506200" cy="9062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E3ED088-A078-E813-D1B2-B0C0779DD644}"/>
              </a:ext>
            </a:extLst>
          </p:cNvPr>
          <p:cNvSpPr txBox="1"/>
          <p:nvPr/>
        </p:nvSpPr>
        <p:spPr>
          <a:xfrm>
            <a:off x="3048000" y="900139"/>
            <a:ext cx="7391400"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 Architecture Diagram</a:t>
            </a:r>
          </a:p>
        </p:txBody>
      </p:sp>
      <p:pic>
        <p:nvPicPr>
          <p:cNvPr id="7" name="Picture 6"/>
          <p:cNvPicPr>
            <a:picLocks noChangeAspect="1"/>
          </p:cNvPicPr>
          <p:nvPr/>
        </p:nvPicPr>
        <p:blipFill>
          <a:blip r:embed="rId2"/>
          <a:stretch/>
        </p:blipFill>
        <p:spPr>
          <a:xfrm>
            <a:off x="381000" y="18288"/>
            <a:ext cx="11277600" cy="906235"/>
          </a:xfrm>
          <a:prstGeom prst="rect">
            <a:avLst/>
          </a:prstGeom>
        </p:spPr>
      </p:pic>
      <p:pic>
        <p:nvPicPr>
          <p:cNvPr id="4" name="Picture 3">
            <a:extLst>
              <a:ext uri="{FF2B5EF4-FFF2-40B4-BE49-F238E27FC236}">
                <a16:creationId xmlns:a16="http://schemas.microsoft.com/office/drawing/2014/main" id="{78C5C7C8-DB07-D482-EECD-EA26BE27AC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17931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11FCB8-5CA7-6998-9BB4-07955159131C}"/>
              </a:ext>
            </a:extLst>
          </p:cNvPr>
          <p:cNvSpPr txBox="1"/>
          <p:nvPr/>
        </p:nvSpPr>
        <p:spPr>
          <a:xfrm>
            <a:off x="1828800" y="2664023"/>
            <a:ext cx="4267200" cy="2862322"/>
          </a:xfrm>
          <a:prstGeom prst="rect">
            <a:avLst/>
          </a:prstGeom>
          <a:noFill/>
        </p:spPr>
        <p:txBody>
          <a:bodyPr wrap="square" rtlCol="0">
            <a:spAutoFit/>
          </a:bodyPr>
          <a:lstStyle/>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Banking</a:t>
            </a:r>
          </a:p>
          <a:p>
            <a:r>
              <a:rPr lang="en-IN" sz="2000" dirty="0">
                <a:latin typeface="Times New Roman" panose="02020603050405020304" pitchFamily="18" charset="0"/>
                <a:cs typeface="Times New Roman" panose="02020603050405020304" pitchFamily="18" charset="0"/>
              </a:rPr>
              <a:t>Customer accounts </a:t>
            </a:r>
          </a:p>
          <a:p>
            <a:r>
              <a:rPr lang="en-IN" sz="2000" dirty="0">
                <a:latin typeface="Times New Roman" panose="02020603050405020304" pitchFamily="18" charset="0"/>
                <a:cs typeface="Times New Roman" panose="02020603050405020304" pitchFamily="18" charset="0"/>
              </a:rPr>
              <a:t>Online transactions </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Healthcare</a:t>
            </a:r>
          </a:p>
          <a:p>
            <a:r>
              <a:rPr lang="en-IN" sz="2000" dirty="0">
                <a:latin typeface="Times New Roman" panose="02020603050405020304" pitchFamily="18" charset="0"/>
                <a:cs typeface="Times New Roman" panose="02020603050405020304" pitchFamily="18" charset="0"/>
              </a:rPr>
              <a:t>Patient records </a:t>
            </a:r>
          </a:p>
          <a:p>
            <a:r>
              <a:rPr lang="en-IN" sz="2000" dirty="0">
                <a:latin typeface="Times New Roman" panose="02020603050405020304" pitchFamily="18" charset="0"/>
                <a:cs typeface="Times New Roman" panose="02020603050405020304" pitchFamily="18" charset="0"/>
              </a:rPr>
              <a:t>Hospital management</a:t>
            </a:r>
          </a:p>
          <a:p>
            <a:r>
              <a:rPr lang="en-IN" sz="2000" dirty="0">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5BB306B0-0FB6-27DF-BCCC-E6EAFCE60A68}"/>
              </a:ext>
            </a:extLst>
          </p:cNvPr>
          <p:cNvSpPr txBox="1"/>
          <p:nvPr/>
        </p:nvSpPr>
        <p:spPr>
          <a:xfrm>
            <a:off x="1416267" y="1545486"/>
            <a:ext cx="9359466" cy="707886"/>
          </a:xfrm>
          <a:prstGeom prst="rect">
            <a:avLst/>
          </a:prstGeom>
          <a:noFill/>
        </p:spPr>
        <p:txBody>
          <a:bodyPr wrap="square" rtlCol="0">
            <a:spAutoFit/>
          </a:bodyPr>
          <a:lstStyle/>
          <a:p>
            <a:pPr algn="ctr"/>
            <a:r>
              <a:rPr lang="en-IN" sz="4000" b="1" dirty="0">
                <a:latin typeface="Times New Roman" panose="02020603050405020304" pitchFamily="18" charset="0"/>
                <a:cs typeface="Times New Roman" panose="02020603050405020304" pitchFamily="18" charset="0"/>
              </a:rPr>
              <a:t>Real-World Applications &amp; Conclusion</a:t>
            </a:r>
          </a:p>
        </p:txBody>
      </p:sp>
      <p:pic>
        <p:nvPicPr>
          <p:cNvPr id="7" name="Picture 6"/>
          <p:cNvPicPr>
            <a:picLocks noChangeAspect="1"/>
          </p:cNvPicPr>
          <p:nvPr/>
        </p:nvPicPr>
        <p:blipFill>
          <a:blip r:embed="rId2"/>
          <a:stretch/>
        </p:blipFill>
        <p:spPr>
          <a:xfrm>
            <a:off x="381000" y="228600"/>
            <a:ext cx="10972800" cy="906235"/>
          </a:xfrm>
          <a:prstGeom prst="rect">
            <a:avLst/>
          </a:prstGeom>
        </p:spPr>
      </p:pic>
      <p:sp>
        <p:nvSpPr>
          <p:cNvPr id="4" name="TextBox 3">
            <a:extLst>
              <a:ext uri="{FF2B5EF4-FFF2-40B4-BE49-F238E27FC236}">
                <a16:creationId xmlns:a16="http://schemas.microsoft.com/office/drawing/2014/main" id="{1FFBD0B2-B9EC-211D-F5FA-18E32DA9D8A8}"/>
              </a:ext>
            </a:extLst>
          </p:cNvPr>
          <p:cNvSpPr txBox="1"/>
          <p:nvPr/>
        </p:nvSpPr>
        <p:spPr>
          <a:xfrm>
            <a:off x="7010400" y="2664023"/>
            <a:ext cx="4800600" cy="3477875"/>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Education</a:t>
            </a:r>
          </a:p>
          <a:p>
            <a:r>
              <a:rPr lang="en-IN" sz="2000" dirty="0">
                <a:latin typeface="Times New Roman" panose="02020603050405020304" pitchFamily="18" charset="0"/>
                <a:cs typeface="Times New Roman" panose="02020603050405020304" pitchFamily="18" charset="0"/>
              </a:rPr>
              <a:t>Student database </a:t>
            </a:r>
          </a:p>
          <a:p>
            <a:r>
              <a:rPr lang="en-IN" sz="2000" dirty="0">
                <a:latin typeface="Times New Roman" panose="02020603050405020304" pitchFamily="18" charset="0"/>
                <a:cs typeface="Times New Roman" panose="02020603050405020304" pitchFamily="18" charset="0"/>
              </a:rPr>
              <a:t>Examination systems </a:t>
            </a:r>
          </a:p>
          <a:p>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E-Commerce</a:t>
            </a:r>
          </a:p>
          <a:p>
            <a:r>
              <a:rPr lang="en-IN" sz="2000" dirty="0">
                <a:latin typeface="Times New Roman" panose="02020603050405020304" pitchFamily="18" charset="0"/>
                <a:cs typeface="Times New Roman" panose="02020603050405020304" pitchFamily="18" charset="0"/>
              </a:rPr>
              <a:t>Product inventory </a:t>
            </a:r>
          </a:p>
          <a:p>
            <a:r>
              <a:rPr lang="en-IN" sz="2000" dirty="0">
                <a:latin typeface="Times New Roman" panose="02020603050405020304" pitchFamily="18" charset="0"/>
                <a:cs typeface="Times New Roman" panose="02020603050405020304" pitchFamily="18" charset="0"/>
              </a:rPr>
              <a:t>Online orders </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Railway/Airline Reservation</a:t>
            </a:r>
          </a:p>
          <a:p>
            <a:r>
              <a:rPr lang="en-IN" sz="2000" dirty="0">
                <a:latin typeface="Times New Roman" panose="02020603050405020304" pitchFamily="18" charset="0"/>
                <a:cs typeface="Times New Roman" panose="02020603050405020304" pitchFamily="18" charset="0"/>
              </a:rPr>
              <a:t>Ticket booking </a:t>
            </a:r>
          </a:p>
          <a:p>
            <a:r>
              <a:rPr lang="en-IN" sz="2000" dirty="0">
                <a:latin typeface="Times New Roman" panose="02020603050405020304" pitchFamily="18" charset="0"/>
                <a:cs typeface="Times New Roman" panose="02020603050405020304" pitchFamily="18" charset="0"/>
              </a:rPr>
              <a:t>Seat management</a:t>
            </a:r>
          </a:p>
        </p:txBody>
      </p:sp>
    </p:spTree>
    <p:extLst>
      <p:ext uri="{BB962C8B-B14F-4D97-AF65-F5344CB8AC3E}">
        <p14:creationId xmlns:p14="http://schemas.microsoft.com/office/powerpoint/2010/main" val="4199021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86200" y="1712748"/>
            <a:ext cx="4114800" cy="629018"/>
          </a:xfrm>
          <a:prstGeom prst="rect">
            <a:avLst/>
          </a:prstGeom>
        </p:spPr>
        <p:txBody>
          <a:bodyPr vert="horz" wrap="square" lIns="0" tIns="13335" rIns="0" bIns="0" rtlCol="0">
            <a:spAutoFit/>
          </a:bodyPr>
          <a:lstStyle/>
          <a:p>
            <a:pPr marL="783590">
              <a:lnSpc>
                <a:spcPct val="100000"/>
              </a:lnSpc>
              <a:spcBef>
                <a:spcPts val="105"/>
              </a:spcBef>
            </a:pPr>
            <a:r>
              <a:rPr lang="en-IN" sz="4000" b="1" dirty="0">
                <a:latin typeface="Times New Roman" panose="02020603050405020304" pitchFamily="18" charset="0"/>
                <a:cs typeface="Times New Roman" panose="02020603050405020304" pitchFamily="18" charset="0"/>
              </a:rPr>
              <a:t>Conclusion </a:t>
            </a:r>
            <a:endParaRPr sz="4000" spc="-10" dirty="0">
              <a:latin typeface="Times New Roman" panose="02020603050405020304" pitchFamily="18" charset="0"/>
              <a:cs typeface="Times New Roman" panose="02020603050405020304" pitchFamily="18" charset="0"/>
            </a:endParaRPr>
          </a:p>
        </p:txBody>
      </p:sp>
      <p:sp>
        <p:nvSpPr>
          <p:cNvPr id="3" name="object 3"/>
          <p:cNvSpPr txBox="1"/>
          <p:nvPr/>
        </p:nvSpPr>
        <p:spPr>
          <a:xfrm>
            <a:off x="909143" y="1534540"/>
            <a:ext cx="10729749" cy="896398"/>
          </a:xfrm>
          <a:prstGeom prst="rect">
            <a:avLst/>
          </a:prstGeom>
        </p:spPr>
        <p:txBody>
          <a:bodyPr vert="horz" wrap="square" lIns="0" tIns="110489" rIns="0" bIns="0" rtlCol="0">
            <a:spAutoFit/>
          </a:bodyPr>
          <a:lstStyle/>
          <a:p>
            <a:pPr>
              <a:lnSpc>
                <a:spcPct val="150000"/>
              </a:lnSpc>
              <a:buNone/>
            </a:pPr>
            <a:endParaRPr lang="en-GB"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
            </a:pPr>
            <a:endParaRPr lang="en-IN" sz="14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stretch/>
        </p:blipFill>
        <p:spPr>
          <a:xfrm>
            <a:off x="381000" y="381000"/>
            <a:ext cx="11388256" cy="906235"/>
          </a:xfrm>
          <a:prstGeom prst="rect">
            <a:avLst/>
          </a:prstGeom>
        </p:spPr>
      </p:pic>
      <p:sp>
        <p:nvSpPr>
          <p:cNvPr id="5" name="TextBox 4">
            <a:extLst>
              <a:ext uri="{FF2B5EF4-FFF2-40B4-BE49-F238E27FC236}">
                <a16:creationId xmlns:a16="http://schemas.microsoft.com/office/drawing/2014/main" id="{506BB2B0-D3CD-6C90-8C51-52DF9080EBE7}"/>
              </a:ext>
            </a:extLst>
          </p:cNvPr>
          <p:cNvSpPr txBox="1"/>
          <p:nvPr/>
        </p:nvSpPr>
        <p:spPr>
          <a:xfrm>
            <a:off x="909143" y="2767280"/>
            <a:ext cx="10729749" cy="2246769"/>
          </a:xfrm>
          <a:prstGeom prst="rect">
            <a:avLst/>
          </a:prstGeom>
          <a:noFill/>
        </p:spPr>
        <p:txBody>
          <a:bodyPr wrap="square">
            <a:spAutoFit/>
          </a:bodyPr>
          <a:lstStyle/>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DBMS is essential for efficient data management.</a:t>
            </a:r>
          </a:p>
          <a:p>
            <a:pPr algn="just"/>
            <a:r>
              <a:rPr lang="en-IN" sz="2000" dirty="0">
                <a:latin typeface="Times New Roman" panose="02020603050405020304" pitchFamily="18" charset="0"/>
                <a:cs typeface="Times New Roman" panose="02020603050405020304" pitchFamily="18" charset="0"/>
              </a:rPr>
              <a:t> </a:t>
            </a: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It improves security, consistency, and accessibility of data. </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It is widely used in banking, healthcare, education, e-commerce, and many other industries.</a:t>
            </a:r>
          </a:p>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DBMS plays a vital role in modern information systems.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65976" y="2667000"/>
            <a:ext cx="6235224" cy="1244571"/>
          </a:xfrm>
          <a:prstGeom prst="rect">
            <a:avLst/>
          </a:prstGeom>
        </p:spPr>
        <p:txBody>
          <a:bodyPr vert="horz" wrap="square" lIns="0" tIns="13335" rIns="0" bIns="0" rtlCol="0">
            <a:spAutoFit/>
          </a:bodyPr>
          <a:lstStyle/>
          <a:p>
            <a:pPr marL="12700">
              <a:lnSpc>
                <a:spcPct val="100000"/>
              </a:lnSpc>
              <a:spcBef>
                <a:spcPts val="105"/>
              </a:spcBef>
            </a:pPr>
            <a:r>
              <a:rPr sz="8000" dirty="0">
                <a:latin typeface="Times New Roman" panose="02020603050405020304" pitchFamily="18" charset="0"/>
                <a:cs typeface="Times New Roman" panose="02020603050405020304" pitchFamily="18" charset="0"/>
              </a:rPr>
              <a:t>Thank</a:t>
            </a:r>
            <a:r>
              <a:rPr sz="8000" spc="-100" dirty="0">
                <a:latin typeface="Times New Roman" panose="02020603050405020304" pitchFamily="18" charset="0"/>
                <a:cs typeface="Times New Roman" panose="02020603050405020304" pitchFamily="18" charset="0"/>
              </a:rPr>
              <a:t> </a:t>
            </a:r>
            <a:r>
              <a:rPr sz="8000" spc="-50" dirty="0">
                <a:latin typeface="Times New Roman" panose="02020603050405020304" pitchFamily="18" charset="0"/>
                <a:cs typeface="Times New Roman" panose="02020603050405020304" pitchFamily="18" charset="0"/>
              </a:rPr>
              <a:t>You!</a:t>
            </a:r>
            <a:r>
              <a:rPr lang="en-US" sz="8000" spc="-50" dirty="0">
                <a:latin typeface="Times New Roman" panose="02020603050405020304" pitchFamily="18" charset="0"/>
                <a:cs typeface="Times New Roman" panose="02020603050405020304" pitchFamily="18" charset="0"/>
              </a:rPr>
              <a:t>!!</a:t>
            </a:r>
            <a:endParaRPr sz="8000" spc="-50" dirty="0">
              <a:latin typeface="Times New Roman" panose="02020603050405020304" pitchFamily="18" charset="0"/>
              <a:cs typeface="Times New Roman" panose="02020603050405020304" pitchFamily="18" charset="0"/>
            </a:endParaRPr>
          </a:p>
        </p:txBody>
      </p:sp>
      <p:pic>
        <p:nvPicPr>
          <p:cNvPr id="3" name="object 4">
            <a:extLst>
              <a:ext uri="{FF2B5EF4-FFF2-40B4-BE49-F238E27FC236}">
                <a16:creationId xmlns:a16="http://schemas.microsoft.com/office/drawing/2014/main" id="{33DE70C5-CE14-BE97-84AD-341EBE21BA8A}"/>
              </a:ext>
            </a:extLst>
          </p:cNvPr>
          <p:cNvPicPr/>
          <p:nvPr/>
        </p:nvPicPr>
        <p:blipFill>
          <a:blip r:embed="rId2" cstate="print"/>
          <a:stretch>
            <a:fillRect/>
          </a:stretch>
        </p:blipFill>
        <p:spPr>
          <a:xfrm>
            <a:off x="357352" y="191643"/>
            <a:ext cx="1103582" cy="1342897"/>
          </a:xfrm>
          <a:prstGeom prst="rect">
            <a:avLst/>
          </a:prstGeom>
        </p:spPr>
      </p:pic>
      <p:pic>
        <p:nvPicPr>
          <p:cNvPr id="4" name="object 5">
            <a:extLst>
              <a:ext uri="{FF2B5EF4-FFF2-40B4-BE49-F238E27FC236}">
                <a16:creationId xmlns:a16="http://schemas.microsoft.com/office/drawing/2014/main" id="{8ED391EF-C997-121C-60E1-8D9C01EDEBAA}"/>
              </a:ext>
            </a:extLst>
          </p:cNvPr>
          <p:cNvPicPr/>
          <p:nvPr/>
        </p:nvPicPr>
        <p:blipFill>
          <a:blip r:embed="rId3" cstate="print"/>
          <a:stretch>
            <a:fillRect/>
          </a:stretch>
        </p:blipFill>
        <p:spPr>
          <a:xfrm>
            <a:off x="10514203" y="191643"/>
            <a:ext cx="1520062" cy="134289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1089</TotalTime>
  <Words>447</Words>
  <Application>Microsoft Office PowerPoint</Application>
  <PresentationFormat>Widescreen</PresentationFormat>
  <Paragraphs>84</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Calibri</vt:lpstr>
      <vt:lpstr>Times New Roman</vt:lpstr>
      <vt:lpstr>Wingdings</vt:lpstr>
      <vt:lpstr>Office Theme</vt:lpstr>
      <vt:lpstr>Database Management System - An Efficient Way to Store and Manage Data</vt:lpstr>
      <vt:lpstr>Introduction</vt:lpstr>
      <vt:lpstr>Working &amp; Functions</vt:lpstr>
      <vt:lpstr>Advantages of DBMS</vt:lpstr>
      <vt:lpstr>PowerPoint Presentation</vt:lpstr>
      <vt:lpstr>PowerPoint Presentation</vt:lpstr>
      <vt:lpstr>Conclusion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Title</dc:title>
  <dc:creator>sankar</dc:creator>
  <cp:lastModifiedBy>Uday Kiran n</cp:lastModifiedBy>
  <cp:revision>23</cp:revision>
  <dcterms:created xsi:type="dcterms:W3CDTF">2025-02-28T15:07:37Z</dcterms:created>
  <dcterms:modified xsi:type="dcterms:W3CDTF">2026-08-01T08:58:04Z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2025-02-24T00:00:00Z</vt:filetime>
  </property>
  <property fmtid="{D5CDD505-2E9C-101B-9397-08002B2CF9AE}" pid="3" name="Creator">
    <vt:lpwstr>Microsoft® PowerPoint® 2019</vt:lpwstr>
  </property>
  <property fmtid="{D5CDD505-2E9C-101B-9397-08002B2CF9AE}" pid="4" name="LastSaved">
    <vt:filetime>2025-02-28T00:00:00Z</vt:filetime>
  </property>
  <property fmtid="{D5CDD505-2E9C-101B-9397-08002B2CF9AE}" pid="5" name="Producer">
    <vt:lpwstr>Microsoft® PowerPoint® 2019</vt:lpwstr>
  </property>
</Properties>
</file>